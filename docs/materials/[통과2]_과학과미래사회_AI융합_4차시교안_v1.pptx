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144d305-e35c-687f-c344-0409e533a5da}">
          <p14:sldIdLst>
            <p14:sldId id="256"/>
            <p14:sldId id="257"/>
            <p14:sldId id="258"/>
            <p14:sldId id="259"/>
          </p14:sldIdLst>
        </p14:section>
        <p14:section name="전개" id="{4bf2411f-cac9-d4d2-83b4-48e604f39d8b}">
          <p14:sldIdLst>
            <p14:sldId id="260"/>
            <p14:sldId id="261"/>
            <p14:sldId id="262"/>
            <p14:sldId id="263"/>
            <p14:sldId id="264"/>
          </p14:sldIdLst>
        </p14:section>
        <p14:section name="정리" id="{7393a9da-1680-6568-13a3-1aa491ea3b15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4차시는 1~3차시에서 직접 얻은 데이터 근거로 SSI를 논증하는 차시입니다. 모둠별 크롬북으로 웹앱 4차시 탭을 미리 열어 둡니다(반·모둠 선택 확인 — 근거가 반·모둠별로 저장됨).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반·모둠을 1~3차시와 같게 골라야 근거가 보입니다. 다른 크롬북을 쓰는 모둠은 활동지 2번 표에 근거를 직접 옮겨 적게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 상황은 사실이 아님을 분명히 말합니다. AI 실패 사례만 보지 않도록 “사람도 놓칠 수 있다 / AI가 먼저 알아챈 날도 있다”를 함께 짚습니다. GraphCast처럼 AI 예보는 학습 뒤 계산이 빠르다는 장점도 언급합니다.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모둠마다 대표 역할 1개를 정합니다(웹앱에는 1개만 제출됨). 모둠원끼리 다른 역할을 나눠 생각해 보는 것은 괜찮습니다. 이점과 위험을 반드시 둘 다 쓰게 해 한쪽으로 기울지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“윤리적으로 써야 한다”처럼 막연한 말 대신, 확인할 수 있는 조건(예: 최종 경보는 예보관이 결정, 예보에 불확실성 표시)으로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반대 입장도 “어떤 조건이 갖춰지면 찬성으로 바뀌는가”를 쓰게 하면 논증이 깊어집니다.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 화면을 띄우고 모둠별 1분 발표. 각 모둠은 다음 번호 모둠의 카드를 활동지 5의 세 기준(잘함/보통/더 노력 판단 기준 포함)으로 평가합니다.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학생에게는 보여 주지 않는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통합과학2 Ⅲ. 과학과 미래 사회 · AI 융합수업 · 4차시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통합과학2 · Ⅲ. 과학과 미래 사회 · AI 융합수업 4차시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날씨 예보를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AI에게 맡겨도 될까?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[10통과2-03-04] 과학기술의 발전 과정에서 발생할 수 있는 과학 관련 사회적 쟁점(SSI)과 과학기술 이용에서 과학 윤리의 중요성에 대해 논증할 수 있다.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지금까지 우리가 직접 얻은 근거</a:t>
            </a:r>
            <a:endParaRPr lang="en-US" sz="2600" dirty="0"/>
          </a:p>
        </p:txBody>
      </p:sp>
      <p:sp>
        <p:nvSpPr>
          <p:cNvPr id="3" name="prev0"/>
          <p:cNvSpPr/>
          <p:nvPr/>
        </p:nvSpPr>
        <p:spPr>
          <a:xfrm>
            <a:off x="457200" y="11887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관측소 한 곳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교내 지점마다 기온이 달랐다 → 관측의 대표성</a:t>
            </a:r>
            <a:endParaRPr lang="en-US" sz="1400" dirty="0"/>
          </a:p>
        </p:txBody>
      </p:sp>
      <p:sp>
        <p:nvSpPr>
          <p:cNvPr id="8" name="prev1"/>
          <p:cNvSpPr/>
          <p:nvPr/>
        </p:nvSpPr>
        <p:spPr>
          <a:xfrm>
            <a:off x="3246120" y="11887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속담 vs AI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가설 검증 · 정확도의 함정 · 비 놓침 벌점</a:t>
            </a:r>
            <a:endParaRPr lang="en-US" sz="1400" dirty="0"/>
          </a:p>
        </p:txBody>
      </p:sp>
      <p:sp>
        <p:nvSpPr>
          <p:cNvPr id="13" name="prev2"/>
          <p:cNvSpPr/>
          <p:nvPr/>
        </p:nvSpPr>
        <p:spPr>
          <a:xfrm>
            <a:off x="6035040" y="11887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채점과 한계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예보 채점 · 학습 기간과 시험 기간 나누기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웹앱 4차시 02 “우리가 직접 모은 근거”에 이 결과들이 자동으로 모여 있습니다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쟁점: 누구의 책임이고, 무엇을 대가로 치르나</a:t>
            </a:r>
            <a:endParaRPr lang="en-US" sz="2600" dirty="0"/>
          </a:p>
        </p:txBody>
      </p:sp>
      <p:sp>
        <p:nvSpPr>
          <p:cNvPr id="3" name="case"/>
          <p:cNvSpPr/>
          <p:nvPr/>
        </p:nvSpPr>
        <p:spPr>
          <a:xfrm>
            <a:off x="457200" y="1143000"/>
            <a:ext cx="39776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⚠ 수업용 가상 상황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예보는 “오늘 저녁까지 비 안 옴”. 그런데 저녁에 짧고 강한 비로 하천 산책로가 잠겼다. 사람 예보관도 놓칠 수 있는 비였고, AI가 먼저 위험을 알아챈 날도 있을 수 있다. 이 오보의 책임은 누구에게?</a:t>
            </a:r>
            <a:endParaRPr lang="en-US" sz="1400" dirty="0"/>
          </a:p>
        </p:txBody>
      </p:sp>
      <p:sp>
        <p:nvSpPr>
          <p:cNvPr id="6" name="power"/>
          <p:cNvSpPr/>
          <p:nvPr/>
        </p:nvSpPr>
        <p:spPr>
          <a:xfrm>
            <a:off x="4709160" y="1143000"/>
            <a:ext cx="39776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⚡ 데이터센터(AI 포함)의 전기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세계 데이터센터 전체 전력 소비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2024년 약 415 TWh(추정) → 2030년 약 945 TWh(전망, 기준 시나리오) · IEA(2025)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날씨 AI만의 값이 아님. 기존 수치예보도 슈퍼컴퓨터 전력을 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AI는 학습에 큰 계산, 학습 뒤 예보 계산은 빠름(GraphCast, 2023)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우리 사회는 날씨 예보를 AI에게 얼마나, 어떤 조건에서 맡겨야 할까?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오늘의 흐름 (50분)</a:t>
            </a:r>
            <a:endParaRPr lang="en-US" sz="2600" dirty="0"/>
          </a:p>
        </p:txBody>
      </p:sp>
      <p:sp>
        <p:nvSpPr>
          <p:cNvPr id="3" name="flow0"/>
          <p:cNvSpPr/>
          <p:nvPr/>
        </p:nvSpPr>
        <p:spPr>
          <a:xfrm>
            <a:off x="45720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233172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쟁점</a:t>
            </a:r>
            <a:endParaRPr lang="en-US" sz="1400" dirty="0"/>
          </a:p>
        </p:txBody>
      </p:sp>
      <p:sp>
        <p:nvSpPr>
          <p:cNvPr id="6" name="flow1"/>
          <p:cNvSpPr/>
          <p:nvPr/>
        </p:nvSpPr>
        <p:spPr>
          <a:xfrm>
            <a:off x="187452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7452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5분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947672" y="233172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근거 고르기</a:t>
            </a:r>
            <a:endParaRPr lang="en-US" sz="1400" dirty="0"/>
          </a:p>
        </p:txBody>
      </p:sp>
      <p:sp>
        <p:nvSpPr>
          <p:cNvPr id="9" name="flow2"/>
          <p:cNvSpPr/>
          <p:nvPr/>
        </p:nvSpPr>
        <p:spPr>
          <a:xfrm>
            <a:off x="329184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8분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233172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역할 분석</a:t>
            </a:r>
            <a:endParaRPr lang="en-US" sz="1400" dirty="0"/>
          </a:p>
        </p:txBody>
      </p:sp>
      <p:sp>
        <p:nvSpPr>
          <p:cNvPr id="12" name="flow3"/>
          <p:cNvSpPr/>
          <p:nvPr/>
        </p:nvSpPr>
        <p:spPr>
          <a:xfrm>
            <a:off x="470916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15분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782312" y="233172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정책 제안서</a:t>
            </a:r>
            <a:endParaRPr lang="en-US" sz="1400" dirty="0"/>
          </a:p>
        </p:txBody>
      </p:sp>
      <p:sp>
        <p:nvSpPr>
          <p:cNvPr id="15" name="flow4"/>
          <p:cNvSpPr/>
          <p:nvPr/>
        </p:nvSpPr>
        <p:spPr>
          <a:xfrm>
            <a:off x="612648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12분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33172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대시보드·동료 평가</a:t>
            </a:r>
            <a:endParaRPr lang="en-US" sz="1400" dirty="0"/>
          </a:p>
        </p:txBody>
      </p:sp>
      <p:sp>
        <p:nvSpPr>
          <p:cNvPr id="18" name="flow5"/>
          <p:cNvSpPr/>
          <p:nvPr/>
        </p:nvSpPr>
        <p:spPr>
          <a:xfrm>
            <a:off x="754380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5분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616952" y="233172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성찰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웹앱 “4차시” 탭 01 → 06 · 활동지 1 → 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① 이해관계자의 눈으로 보기</a:t>
            </a:r>
            <a:endParaRPr lang="en-US" sz="2600" dirty="0"/>
          </a:p>
        </p:txBody>
      </p:sp>
      <p:sp>
        <p:nvSpPr>
          <p:cNvPr id="3" name="role0"/>
          <p:cNvSpPr/>
          <p:nvPr/>
        </p:nvSpPr>
        <p:spPr>
          <a:xfrm>
            <a:off x="457200" y="114300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시민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빠른 예보의 이익 · 오보 피해 · 알 권리</a:t>
            </a:r>
            <a:endParaRPr lang="en-US" sz="1300" dirty="0"/>
          </a:p>
        </p:txBody>
      </p:sp>
      <p:sp>
        <p:nvSpPr>
          <p:cNvPr id="6" name="role1"/>
          <p:cNvSpPr/>
          <p:nvPr/>
        </p:nvSpPr>
        <p:spPr>
          <a:xfrm>
            <a:off x="3246120" y="114300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52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기상청 예보관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더 집중할 일 · 최종 결정은 누가</a:t>
            </a:r>
            <a:endParaRPr lang="en-US" sz="1300" dirty="0"/>
          </a:p>
        </p:txBody>
      </p:sp>
      <p:sp>
        <p:nvSpPr>
          <p:cNvPr id="9" name="role2"/>
          <p:cNvSpPr/>
          <p:nvPr/>
        </p:nvSpPr>
        <p:spPr>
          <a:xfrm>
            <a:off x="6035040" y="114300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52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AI 개발 기업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장점과 한계를 어떻게 알릴까 · 학습 자료의 공정성</a:t>
            </a:r>
            <a:endParaRPr lang="en-US" sz="1300" dirty="0"/>
          </a:p>
        </p:txBody>
      </p:sp>
      <p:sp>
        <p:nvSpPr>
          <p:cNvPr id="12" name="role3"/>
          <p:cNvSpPr/>
          <p:nvPr/>
        </p:nvSpPr>
        <p:spPr>
          <a:xfrm>
            <a:off x="457200" y="256032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700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재난 대응 기관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08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비 놓침 vs 헛경보 · 경보 기준</a:t>
            </a:r>
            <a:endParaRPr lang="en-US" sz="1300" dirty="0"/>
          </a:p>
        </p:txBody>
      </p:sp>
      <p:sp>
        <p:nvSpPr>
          <p:cNvPr id="15" name="role4"/>
          <p:cNvSpPr/>
          <p:nvPr/>
        </p:nvSpPr>
        <p:spPr>
          <a:xfrm>
            <a:off x="3246120" y="256032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6700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환경 단체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108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기존 방식과 비교한 전력·자원 부담 · 재난 피해 감소와 저울질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6060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대표 역할 1개(웹앱 제출용)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활동지 3: 대표 역할 이점·위험 각 1개 이상 + 다른 역할 1개 이상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② 주장은 근거 위에 선다</a:t>
            </a:r>
            <a:endParaRPr lang="en-US" sz="2600" dirty="0"/>
          </a:p>
        </p:txBody>
      </p:sp>
      <p:sp>
        <p:nvSpPr>
          <p:cNvPr id="3" name="ev0"/>
          <p:cNvSpPr/>
          <p:nvPr/>
        </p:nvSpPr>
        <p:spPr>
          <a:xfrm>
            <a:off x="457200" y="1143000"/>
            <a:ext cx="26060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가설 검증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조건일 때 비 올 확률 vs 평소</a:t>
            </a:r>
            <a:endParaRPr lang="en-US" sz="1300" dirty="0"/>
          </a:p>
        </p:txBody>
      </p:sp>
      <p:sp>
        <p:nvSpPr>
          <p:cNvPr id="6" name="ev1"/>
          <p:cNvSpPr/>
          <p:nvPr/>
        </p:nvSpPr>
        <p:spPr>
          <a:xfrm>
            <a:off x="3246120" y="1143000"/>
            <a:ext cx="26060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정확도의 함정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무조건 비 안 옴도 정확도가 높다</a:t>
            </a:r>
            <a:endParaRPr lang="en-US" sz="1300" dirty="0"/>
          </a:p>
        </p:txBody>
      </p:sp>
      <p:sp>
        <p:nvSpPr>
          <p:cNvPr id="9" name="ev2"/>
          <p:cNvSpPr/>
          <p:nvPr/>
        </p:nvSpPr>
        <p:spPr>
          <a:xfrm>
            <a:off x="6035040" y="1143000"/>
            <a:ext cx="26060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비 놓침 벌점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맞힘↑ 대신 헛경보↑</a:t>
            </a:r>
            <a:endParaRPr lang="en-US" sz="1300" dirty="0"/>
          </a:p>
        </p:txBody>
      </p:sp>
      <p:sp>
        <p:nvSpPr>
          <p:cNvPr id="12" name="ev3"/>
          <p:cNvSpPr/>
          <p:nvPr/>
        </p:nvSpPr>
        <p:spPr>
          <a:xfrm>
            <a:off x="457200" y="2331720"/>
            <a:ext cx="26060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기간 나누기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834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처음 보는 기간에서의 성능</a:t>
            </a:r>
            <a:endParaRPr lang="en-US" sz="1300" dirty="0"/>
          </a:p>
        </p:txBody>
      </p:sp>
      <p:sp>
        <p:nvSpPr>
          <p:cNvPr id="15" name="ev4"/>
          <p:cNvSpPr/>
          <p:nvPr/>
        </p:nvSpPr>
        <p:spPr>
          <a:xfrm>
            <a:off x="3246120" y="2331720"/>
            <a:ext cx="26060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예보 채점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834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우리 반 예보 적중</a:t>
            </a:r>
            <a:endParaRPr lang="en-US" sz="1300" dirty="0"/>
          </a:p>
        </p:txBody>
      </p:sp>
      <p:sp>
        <p:nvSpPr>
          <p:cNvPr id="18" name="ev5"/>
          <p:cNvSpPr/>
          <p:nvPr/>
        </p:nvSpPr>
        <p:spPr>
          <a:xfrm>
            <a:off x="6035040" y="2331720"/>
            <a:ext cx="26060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관측망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834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지점마다 다른 기온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좋은 근거 = 우리가 직접 얻은 수치 + 그 수치가 주장과 어떻게 이어지는지 한 문장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③ 과학 윤리 원칙을 “조건”으로 바꾸기</a:t>
            </a:r>
            <a:endParaRPr lang="en-US" sz="2600" dirty="0"/>
          </a:p>
        </p:txBody>
      </p:sp>
      <p:sp>
        <p:nvSpPr>
          <p:cNvPr id="3" name="pr0"/>
          <p:cNvSpPr/>
          <p:nvPr/>
        </p:nvSpPr>
        <p:spPr>
          <a:xfrm>
            <a:off x="457200" y="114300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책임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오보가 났을 때 누가 어떻게 책임지는가</a:t>
            </a:r>
            <a:endParaRPr lang="en-US" sz="1300" dirty="0"/>
          </a:p>
        </p:txBody>
      </p:sp>
      <p:sp>
        <p:nvSpPr>
          <p:cNvPr id="6" name="pr1"/>
          <p:cNvSpPr/>
          <p:nvPr/>
        </p:nvSpPr>
        <p:spPr>
          <a:xfrm>
            <a:off x="4663440" y="114300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투명성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AI가 왜 그렇게 예보했는지, 한계가 무엇인지 공개하는가</a:t>
            </a:r>
            <a:endParaRPr lang="en-US" sz="1300" dirty="0"/>
          </a:p>
        </p:txBody>
      </p:sp>
      <p:sp>
        <p:nvSpPr>
          <p:cNvPr id="9" name="pr2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공정성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지역·계층에 따라 예보 정확도나 혜택이 달라지지 않는가</a:t>
            </a:r>
            <a:endParaRPr lang="en-US" sz="1300" dirty="0"/>
          </a:p>
        </p:txBody>
      </p:sp>
      <p:sp>
        <p:nvSpPr>
          <p:cNvPr id="12" name="pr3"/>
          <p:cNvSpPr/>
          <p:nvPr/>
        </p:nvSpPr>
        <p:spPr>
          <a:xfrm>
            <a:off x="4663440" y="237744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지속 가능성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전력·자원 사용이 기후와 환경에 부담을 주지 않는가</a:t>
            </a:r>
            <a:endParaRPr lang="en-US" sz="1300" dirty="0"/>
          </a:p>
        </p:txBody>
      </p:sp>
      <p:sp>
        <p:nvSpPr>
          <p:cNvPr id="15" name="form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749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조건 문장 틀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예보는 ___ 조건에서 ___에 활용해야 한다 / 하지 말아야 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④ 정책 제안서(적용 조건 포함)</a:t>
            </a:r>
            <a:endParaRPr lang="en-US" sz="2600" dirty="0"/>
          </a:p>
        </p:txBody>
      </p:sp>
      <p:sp>
        <p:nvSpPr>
          <p:cNvPr id="3" name="part0"/>
          <p:cNvSpPr/>
          <p:nvPr/>
        </p:nvSpPr>
        <p:spPr>
          <a:xfrm>
            <a:off x="457200" y="128016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80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입장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75104" y="1755648"/>
            <a:ext cx="182880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art1"/>
          <p:cNvSpPr/>
          <p:nvPr/>
        </p:nvSpPr>
        <p:spPr>
          <a:xfrm>
            <a:off x="2157984" y="128016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03704" y="1280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핵심 주장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75888" y="1755648"/>
            <a:ext cx="182880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rt2"/>
          <p:cNvSpPr/>
          <p:nvPr/>
        </p:nvSpPr>
        <p:spPr>
          <a:xfrm>
            <a:off x="3858768" y="128016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04488" y="1280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근거(우리 데이터)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76672" y="1755648"/>
            <a:ext cx="182880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part3"/>
          <p:cNvSpPr/>
          <p:nvPr/>
        </p:nvSpPr>
        <p:spPr>
          <a:xfrm>
            <a:off x="5559552" y="128016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05272" y="1280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윤리 조건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77456" y="1755648"/>
            <a:ext cx="182880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part4"/>
          <p:cNvSpPr/>
          <p:nvPr/>
        </p:nvSpPr>
        <p:spPr>
          <a:xfrm>
            <a:off x="7260336" y="128016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06056" y="1280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반론과 재반박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웹앱 04에서 “미리 보기” → 빈칸 점검 → 제출 (이름·학번은 쓰지 않기)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찬성 · 조건부 찬성 · 반대 모두 정답이 아닙니다. 어떤 입장이든 “어떤 조건에서”를 밝히면 조건부 해결 방안입니다.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반대라면: 어떤 조건이 갖춰지면 입장이 바뀌는가?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⑤ 우리 반 대시보드와 동료 평가</a:t>
            </a:r>
            <a:endParaRPr lang="en-US" sz="2600" dirty="0"/>
          </a:p>
        </p:txBody>
      </p:sp>
      <p:sp>
        <p:nvSpPr>
          <p:cNvPr id="3" name="dash"/>
          <p:cNvSpPr/>
          <p:nvPr/>
        </p:nvSpPr>
        <p:spPr>
          <a:xfrm>
            <a:off x="457200" y="1143000"/>
            <a:ext cx="39776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📊 대시보드에서 볼 것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입장 분포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가장 많이 고른 윤리 원칙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역할별 제안의 차이</a:t>
            </a:r>
            <a:endParaRPr lang="en-US" sz="1500" dirty="0"/>
          </a:p>
        </p:txBody>
      </p:sp>
      <p:sp>
        <p:nvSpPr>
          <p:cNvPr id="6" name="peer"/>
          <p:cNvSpPr/>
          <p:nvPr/>
        </p:nvSpPr>
        <p:spPr>
          <a:xfrm>
            <a:off x="4709160" y="1143000"/>
            <a:ext cx="39776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🤝 동료 평가(활동지 5)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근거(우리 데이터)가 주장을 뒷받침한다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윤리 조건이 구체적이고 확인할 수 있다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반론을 공정하게 다루고 응답했다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평가 대상: 다음 번호 모둠(5모둠 → 1모둠)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성찰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각자 쓰기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1. 4차시 동안 내 생각이 바뀐 지점은?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2. 과학기술을 이용할 때 내가 꼭 지키고 싶은 조건 한 가지는?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3. 4차시 프로젝트에서 가장 설득력 있던 근거는?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[교사용] 수업 전 점검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61872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Apps Script v0.3.0 배포(policy 시트) · 교사 화면 연결 시험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83664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105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학생 크롬북: 1~3차시와 같은 반·모둠 선택 확인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05456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43230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대시보드 화면 띄울 준비(웹앱 4차시 05)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0540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활동지 인쇄(정책 제안서·동료 평가)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6758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[10통과2-03-04] 상/중/하 점검 기준 안내(입장 무관, 근거·조건으로 판단)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Forecaster">
  <a:themeElements>
    <a:clrScheme name="AI Forecaster">
      <a:dk1>
        <a:srgbClr val="1B2530"/>
      </a:dk1>
      <a:lt1>
        <a:srgbClr val="FFFFFF"/>
      </a:lt1>
      <a:dk2>
        <a:srgbClr val="17324A"/>
      </a:dk2>
      <a:lt2>
        <a:srgbClr val="EEF3F7"/>
      </a:lt2>
      <a:accent1>
        <a:srgbClr val="2E7DA6"/>
      </a:accent1>
      <a:accent2>
        <a:srgbClr val="E0702D"/>
      </a:accent2>
      <a:accent3>
        <a:srgbClr val="6C8798"/>
      </a:accent3>
      <a:accent4>
        <a:srgbClr val="3E9A6B"/>
      </a:accent4>
      <a:accent5>
        <a:srgbClr val="B23B3B"/>
      </a:accent5>
      <a:accent6>
        <a:srgbClr val="C9DCE8"/>
      </a:accent6>
      <a:hlink>
        <a:srgbClr val="2E7DA6"/>
      </a:hlink>
      <a:folHlink>
        <a:srgbClr val="6C8798"/>
      </a:folHlink>
    </a:clrScheme>
    <a:fontScheme name="AI Forecaste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날씨 예보를 AI에게 맡겨도 될까? — 4차시 교안</dc:title>
  <dc:subject>PptxGenJS Presentation</dc:subject>
  <dc:creator>찬환쌤</dc:creator>
  <cp:lastModifiedBy>찬환쌤</cp:lastModifiedBy>
  <cp:revision>1</cp:revision>
  <dcterms:created xsi:type="dcterms:W3CDTF">2026-10-28T02:00:25Z</dcterms:created>
  <dcterms:modified xsi:type="dcterms:W3CDTF">2026-10-28T02:00:25Z</dcterms:modified>
</cp:coreProperties>
</file>