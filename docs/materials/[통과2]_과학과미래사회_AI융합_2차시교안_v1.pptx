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e974c89b-d785-035a-466f-d18555af8ed0}">
          <p14:sldIdLst>
            <p14:sldId id="256"/>
            <p14:sldId id="257"/>
            <p14:sldId id="258"/>
            <p14:sldId id="259"/>
          </p14:sldIdLst>
        </p14:section>
        <p14:section name="전개" id="{d339094b-1f04-1ac6-1f88-e12ba8b2dbf4}">
          <p14:sldIdLst>
            <p14:sldId id="260"/>
            <p14:sldId id="261"/>
            <p14:sldId id="262"/>
            <p14:sldId id="263"/>
            <p14:sldId id="264"/>
          </p14:sldIdLst>
        </p14:section>
        <p14:section name="정리" id="{390a50f4-43c7-5893-17c8-c8e150db04a3}">
          <p14:sldIdLst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도입(5분) 시작. 오늘은 세 예보관이 대결합니다. 모둠별 크롬북으로 AI 예보관 웹앱을 미리 열어 두게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1차시를 직접 진행하지 않았으므로 3분 안에 줄거리로 설명합니다. 실외 그늘에 둔 무선 날씨센서가 기압·습도·풍향을 기록하고 있음을 웹앱 06의 실시간 패널(브리지 경로)로 보여 줍니다. 브리지가 안 될 때만 SPARKvue 데이터 스트리밍으로 바꿉니다(센서 1개는 기기 1대에만 연결).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발문: 셋 중 누가 이길 것 같나요? 손을 들어 예측하게 하고 칠판에 표시해 둡니다(수업 끝에 다시 확인).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도입 5분은 이미 사용. 나머지 45분 배분. 모둠 역할을 지금 정하게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모둠마다 속담 하나씩 배정(1·4모둠 무릎, 2·5모둠 눅눅함, 3모둠 남풍). 연결 고리를 먼저 쓰게 하고, 막히면 웹앱 힌트 버튼. 기준값(예: 1 hPa, 85%)은 모둠이 정합니다.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조건부 확률이라는 말은 쓰지 않습니다. “조건이 맞았던 시간만 모아서, 그중 몇 %가 비였나”로 설명. 모둠별 결과(배수·판정)를 칠판 표에 적게 합니다 — 사진 포인트.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발문: AI가 가장 먼저 물어본 질문은? 그 변수가 왜 비와 관련 있을지 과학 원리로 설명해 보세요. (AI가 찾은 패턴 → 과학적 설명으로 연결하는 핵심 장면)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먼저 정확도만 보여 주고 “무조건 비 안 옴”이 높게 나오는 것을 학생이 발견하게 합니다. 그다음 [비 온 시간만 따로 보기] → 재현율. 마지막으로 [비 놓침 벌점 ○배]로 다시 학습 → 정확도와 맞힘률의 맞바꿈을 토의.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브리지 연결이 안 되면 SPARKvue 데이터 스트리밍 화면의 값을 학생이 직접 입력합니다. 3시간 전 기록이 없으면 로깅 자료에서 읽어 줍니다. 속담 예보는 숫자가 아니라 몸·하늘 관찰로 합니다(무릎이 기압을 느낀다는 가정은 검증 대상 아님). 예보 카드를 칠판에 붙이는 장면이 핵심 사진 포인트.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출구 카드는 구글 설문으로 받습니다(웹앱 07의 버튼). 처음에 손 든 예측(누가 이길까)을 다시 언급하고 다음 차시 채점을 예고.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학생에게는 보여 주지 않는 슬라이드입니다. 발표 전에 숨김 처리하세요.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AI 예보관 · 통합과학2 Ⅲ. 과학과 미래 사회 · 2차시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통합과학2 · Ⅲ. 과학과 미래 사회 · AI 융합수업 2차시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속담 vs 빅데이터 vs AI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누가 비를 맞힐까?</a:t>
            </a:r>
            <a:endParaRPr lang="en-US" sz="36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28803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[10통과2-03-02] · [10통과2-03-03] · [10통과2-03-04]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지난 시간: 우리 학교 기상관측소</a:t>
            </a:r>
            <a:endParaRPr lang="en-US" sz="2600" dirty="0"/>
          </a:p>
        </p:txBody>
      </p:sp>
      <p:sp>
        <p:nvSpPr>
          <p:cNvPr id="3" name="prev0"/>
          <p:cNvSpPr/>
          <p:nvPr/>
        </p:nvSpPr>
        <p:spPr>
          <a:xfrm>
            <a:off x="457200" y="1234440"/>
            <a:ext cx="2606040" cy="26517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4630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1031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관측소 한 곳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60604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기상청 서울 관측소(종로구 송월동) 값이 서울 전체를 대표할까?</a:t>
            </a:r>
            <a:endParaRPr lang="en-US" sz="1400" dirty="0"/>
          </a:p>
        </p:txBody>
      </p:sp>
      <p:sp>
        <p:nvSpPr>
          <p:cNvPr id="8" name="prev1"/>
          <p:cNvSpPr/>
          <p:nvPr/>
        </p:nvSpPr>
        <p:spPr>
          <a:xfrm>
            <a:off x="3246120" y="1234440"/>
            <a:ext cx="2606040" cy="26517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0" y="14630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7472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21031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교내 관측망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260604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무선 온도센서 5개로 교내 곳곳의 기온을 20분간 동시에 측정</a:t>
            </a:r>
            <a:endParaRPr lang="en-US" sz="1400" dirty="0"/>
          </a:p>
        </p:txBody>
      </p:sp>
      <p:sp>
        <p:nvSpPr>
          <p:cNvPr id="13" name="prev2"/>
          <p:cNvSpPr/>
          <p:nvPr/>
        </p:nvSpPr>
        <p:spPr>
          <a:xfrm>
            <a:off x="6035040" y="1234440"/>
            <a:ext cx="2606040" cy="26517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63640" y="14630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6364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263640" y="21031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속담 → 탐구 질문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260604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“무릎이 쑤시면 비가 온다”를 데이터로 확인할 수 있는 질문으로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→ 오늘은 그 질문을 10년 치 빅데이터로 직접 확인합니다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오늘의 대결: 오늘 저녁까지 비가 올까?</a:t>
            </a:r>
            <a:endParaRPr lang="en-US" sz="2600" dirty="0"/>
          </a:p>
        </p:txBody>
      </p:sp>
      <p:sp>
        <p:nvSpPr>
          <p:cNvPr id="3" name="vs0"/>
          <p:cNvSpPr/>
          <p:nvPr/>
        </p:nvSpPr>
        <p:spPr>
          <a:xfrm>
            <a:off x="457200" y="1188720"/>
            <a:ext cx="260604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3258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🧓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0116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속담 예보관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5146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오랜 경험에서 나온 말</a:t>
            </a:r>
            <a:endParaRPr lang="en-US" sz="1400" dirty="0"/>
          </a:p>
        </p:txBody>
      </p:sp>
      <p:sp>
        <p:nvSpPr>
          <p:cNvPr id="7" name="vs1"/>
          <p:cNvSpPr/>
          <p:nvPr/>
        </p:nvSpPr>
        <p:spPr>
          <a:xfrm>
            <a:off x="3246120" y="1188720"/>
            <a:ext cx="260604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46120" y="13258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📏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3246120" y="20116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규칙 예보관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25146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과학 원리로 우리가 세운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IF–THEN 규칙</a:t>
            </a:r>
            <a:endParaRPr lang="en-US" sz="1400" dirty="0"/>
          </a:p>
        </p:txBody>
      </p:sp>
      <p:sp>
        <p:nvSpPr>
          <p:cNvPr id="11" name="vs2"/>
          <p:cNvSpPr/>
          <p:nvPr/>
        </p:nvSpPr>
        <p:spPr>
          <a:xfrm>
            <a:off x="6035040" y="1188720"/>
            <a:ext cx="260604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035040" y="13258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🤖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6035040" y="20116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AI 예보관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25146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10년 기록에서 스스로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질문을 고르는 의사결정트리</a:t>
            </a:r>
            <a:endParaRPr lang="en-US" sz="1400" dirty="0"/>
          </a:p>
        </p:txBody>
      </p:sp>
      <p:sp>
        <p:nvSpPr>
          <p:cNvPr id="15" name="def"/>
          <p:cNvSpPr/>
          <p:nvPr/>
        </p:nvSpPr>
        <p:spPr>
          <a:xfrm>
            <a:off x="457200" y="3749040"/>
            <a:ext cx="8229600" cy="777240"/>
          </a:xfrm>
          <a:prstGeom prst="roundRect">
            <a:avLst>
              <a:gd name="adj" fmla="val 14118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384048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“비”의 기준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지금부터 6시간(오늘 저녁까지) 서울 관측소에 강수량 0.1 mm 이상 기록(눈 포함). 아니면 “비 안 옴”(흐림 포함). 셋 모두 같은 기준으로 채점.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오늘의 흐름 (50분)</a:t>
            </a:r>
            <a:endParaRPr lang="en-US" sz="2600" dirty="0"/>
          </a:p>
        </p:txBody>
      </p:sp>
      <p:sp>
        <p:nvSpPr>
          <p:cNvPr id="3" name="flow0"/>
          <p:cNvSpPr/>
          <p:nvPr/>
        </p:nvSpPr>
        <p:spPr>
          <a:xfrm>
            <a:off x="457200" y="1463040"/>
            <a:ext cx="1234440" cy="17373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64592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5분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3172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가설 세우기</a:t>
            </a:r>
            <a:endParaRPr lang="en-US" sz="1400" dirty="0"/>
          </a:p>
        </p:txBody>
      </p:sp>
      <p:sp>
        <p:nvSpPr>
          <p:cNvPr id="6" name="flow1"/>
          <p:cNvSpPr/>
          <p:nvPr/>
        </p:nvSpPr>
        <p:spPr>
          <a:xfrm>
            <a:off x="1874520" y="1463040"/>
            <a:ext cx="1234440" cy="17373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874520" y="164592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7분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1965960" y="233172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빅데이터 검증</a:t>
            </a:r>
            <a:endParaRPr lang="en-US" sz="1400" dirty="0"/>
          </a:p>
        </p:txBody>
      </p:sp>
      <p:sp>
        <p:nvSpPr>
          <p:cNvPr id="9" name="flow2"/>
          <p:cNvSpPr/>
          <p:nvPr/>
        </p:nvSpPr>
        <p:spPr>
          <a:xfrm>
            <a:off x="3291840" y="1463040"/>
            <a:ext cx="1234440" cy="17373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91840" y="164592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8분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233172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규칙 vs AI</a:t>
            </a:r>
            <a:endParaRPr lang="en-US" sz="1400" dirty="0"/>
          </a:p>
        </p:txBody>
      </p:sp>
      <p:sp>
        <p:nvSpPr>
          <p:cNvPr id="12" name="flow3"/>
          <p:cNvSpPr/>
          <p:nvPr/>
        </p:nvSpPr>
        <p:spPr>
          <a:xfrm>
            <a:off x="4709160" y="1463040"/>
            <a:ext cx="1234440" cy="17373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09160" y="164592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7분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233172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정확도의 함정</a:t>
            </a:r>
            <a:endParaRPr lang="en-US" sz="1400" dirty="0"/>
          </a:p>
        </p:txBody>
      </p:sp>
      <p:sp>
        <p:nvSpPr>
          <p:cNvPr id="15" name="flow4"/>
          <p:cNvSpPr/>
          <p:nvPr/>
        </p:nvSpPr>
        <p:spPr>
          <a:xfrm>
            <a:off x="6126480" y="1463040"/>
            <a:ext cx="1234440" cy="1737360"/>
          </a:xfrm>
          <a:prstGeom prst="roundRect">
            <a:avLst>
              <a:gd name="adj" fmla="val 8889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126480" y="164592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10분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233172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센서로 예보</a:t>
            </a:r>
            <a:endParaRPr lang="en-US" sz="1400" dirty="0"/>
          </a:p>
        </p:txBody>
      </p:sp>
      <p:sp>
        <p:nvSpPr>
          <p:cNvPr id="18" name="flow5"/>
          <p:cNvSpPr/>
          <p:nvPr/>
        </p:nvSpPr>
        <p:spPr>
          <a:xfrm>
            <a:off x="7543800" y="1463040"/>
            <a:ext cx="1234440" cy="17373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543800" y="164592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8분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7635240" y="233172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출구 카드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웹앱 “2차시” 탭의 01 → 07을 순서대로 따라갑니다. 모둠 역할: 측정·기록·분석·발표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① 속담을 과학 가설로</a:t>
            </a:r>
            <a:endParaRPr lang="en-US" sz="2600" dirty="0"/>
          </a:p>
        </p:txBody>
      </p:sp>
      <p:sp>
        <p:nvSpPr>
          <p:cNvPr id="3" name="chain0"/>
          <p:cNvSpPr/>
          <p:nvPr/>
        </p:nvSpPr>
        <p:spPr>
          <a:xfrm>
            <a:off x="457200" y="1188720"/>
            <a:ext cx="109728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기압이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내려간다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581912" y="1563624"/>
            <a:ext cx="265176" cy="256032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chain1"/>
          <p:cNvSpPr/>
          <p:nvPr/>
        </p:nvSpPr>
        <p:spPr>
          <a:xfrm>
            <a:off x="1874520" y="1188720"/>
            <a:ext cx="109728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874520" y="118872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저기압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접근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999232" y="1563624"/>
            <a:ext cx="265176" cy="256032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chain2"/>
          <p:cNvSpPr/>
          <p:nvPr/>
        </p:nvSpPr>
        <p:spPr>
          <a:xfrm>
            <a:off x="3291840" y="1188720"/>
            <a:ext cx="109728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91840" y="118872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상승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기류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416552" y="1563624"/>
            <a:ext cx="265176" cy="256032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chain3"/>
          <p:cNvSpPr/>
          <p:nvPr/>
        </p:nvSpPr>
        <p:spPr>
          <a:xfrm>
            <a:off x="4709160" y="1188720"/>
            <a:ext cx="109728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09160" y="118872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공기 팽창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→ 냉각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833872" y="1563624"/>
            <a:ext cx="265176" cy="256032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chain4"/>
          <p:cNvSpPr/>
          <p:nvPr/>
        </p:nvSpPr>
        <p:spPr>
          <a:xfrm>
            <a:off x="6126480" y="1188720"/>
            <a:ext cx="109728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126480" y="118872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응결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→ 구름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251192" y="1563624"/>
            <a:ext cx="265176" cy="256032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8" name="chain5"/>
          <p:cNvSpPr/>
          <p:nvPr/>
        </p:nvSpPr>
        <p:spPr>
          <a:xfrm>
            <a:off x="7543800" y="1188720"/>
            <a:ext cx="1097280" cy="1005840"/>
          </a:xfrm>
          <a:prstGeom prst="roundRect">
            <a:avLst>
              <a:gd name="adj" fmla="val 1090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543800" y="118872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비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2331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“할머니 무릎이 쑤시면 비가 온다” → 데이터로 확인할 부분: 기압 하강 → 비 (중학교 2학년 ‘기권과 날씨’)</a:t>
            </a:r>
            <a:endParaRPr lang="en-US" sz="1300" dirty="0"/>
          </a:p>
        </p:txBody>
      </p:sp>
      <p:sp>
        <p:nvSpPr>
          <p:cNvPr id="21" name="hypframe"/>
          <p:cNvSpPr/>
          <p:nvPr/>
        </p:nvSpPr>
        <p:spPr>
          <a:xfrm>
            <a:off x="457200" y="2834640"/>
            <a:ext cx="8229600" cy="914400"/>
          </a:xfrm>
          <a:prstGeom prst="roundRect">
            <a:avLst>
              <a:gd name="adj" fmla="val 12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5800" y="29260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가설 문장 틀 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만약 [조건]이면, 앞으로 6시간 안에 비가 올 확률이 평소보다 높을 것이다.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3977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모둠별 속담: ① 무릎(3시간 기압 변화)  ② 눅눅함(상대 습도)  ③ 남풍(풍향)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② 빅데이터로 검증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493776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1371600"/>
                <a:gridCol w="1051560"/>
                <a:gridCol w="128016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매시간 기록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이후 6시간 안 비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비 안 옴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비 올 확률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조건 맞음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</a:rPr>
                        <a:t>a ÷ (a+b)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전체(평소)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a+c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b+d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</a:rPr>
                        <a:t>(a+c) ÷ 전체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ratio"/>
          <p:cNvSpPr/>
          <p:nvPr/>
        </p:nvSpPr>
        <p:spPr>
          <a:xfrm>
            <a:off x="5669280" y="1188720"/>
            <a:ext cx="301752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852160" y="13258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몇 배?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5852160" y="18288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조건일 때 확률 ÷ 평소 확률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852160" y="2240280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1.5배 이상: 지지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1.1~1.5배 미만: 약하게 지지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0.9~1.1배 미만: 기각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0.9배 미만: 반대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74320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데이터: 기상청 ASOS 서울(108) 시간자료 중 학습 기간(2016–2022)만 사용 · 판정 기준은 수업용(통계적 검정 아님) · 조건 시간 50개 미만은 판단 보류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생각해 보기: 기준값을 바꾸면(남풍 모둠은 조건 하나를 더 붙이면) 판정이 어떻게 달라지나?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③ 규칙 예보관 vs AI 예보관</a:t>
            </a:r>
            <a:endParaRPr lang="en-US" sz="2600" dirty="0"/>
          </a:p>
        </p:txBody>
      </p:sp>
      <p:sp>
        <p:nvSpPr>
          <p:cNvPr id="3" name="rule"/>
          <p:cNvSpPr/>
          <p:nvPr/>
        </p:nvSpPr>
        <p:spPr>
          <a:xfrm>
            <a:off x="457200" y="1143000"/>
            <a:ext cx="397764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2801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📏 규칙 예보관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78308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사람이 과학 원리로 조건을 정한다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IF 3시간 기압 1 hPa↓ THEN 비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조건은 1~2개</a:t>
            </a:r>
            <a:endParaRPr lang="en-US" sz="1400" dirty="0"/>
          </a:p>
        </p:txBody>
      </p:sp>
      <p:sp>
        <p:nvSpPr>
          <p:cNvPr id="6" name="ai"/>
          <p:cNvSpPr/>
          <p:nvPr/>
        </p:nvSpPr>
        <p:spPr>
          <a:xfrm>
            <a:off x="4709160" y="1143000"/>
            <a:ext cx="397764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0" y="12801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🤖 AI 예보관 (의사결정트리)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78308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데이터가 질문과 기준을 고른다(스무고개)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“습도가 ○% 이하인가?” → 예/아니요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변수 6개 중 가장 잘 가르는 질문부터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703320"/>
            <a:ext cx="5760720" cy="45720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370332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학습 2016–2022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17920" y="3703320"/>
            <a:ext cx="2468880" cy="45720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17920" y="37033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시험 2023–2025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규칙(03 검증)과 AI 모두 학습 기간만 보고 만들고, 둘 다 처음 보는 기간으로 시험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④ 정확도의 함정</a:t>
            </a:r>
            <a:endParaRPr lang="en-US" sz="2600" dirty="0"/>
          </a:p>
        </p:txBody>
      </p:sp>
      <p:sp>
        <p:nvSpPr>
          <p:cNvPr id="3" name="lazy"/>
          <p:cNvSpPr/>
          <p:nvPr/>
        </p:nvSpPr>
        <p:spPr>
          <a:xfrm>
            <a:off x="457200" y="1143000"/>
            <a:ext cx="3749040" cy="274320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28016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😴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0574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“무조건 비 안 옴”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이 게으른 예보관의 정확도는?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웹앱에서 확인 → ___ %</a:t>
            </a:r>
            <a:endParaRPr lang="en-US" sz="1500" dirty="0"/>
          </a:p>
        </p:txBody>
      </p:sp>
      <p:sp>
        <p:nvSpPr>
          <p:cNvPr id="7" name="cm0"/>
          <p:cNvSpPr/>
          <p:nvPr/>
        </p:nvSpPr>
        <p:spPr>
          <a:xfrm>
            <a:off x="4480560" y="1143000"/>
            <a:ext cx="201168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17720" y="12344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비 맞힘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590288" y="16002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실제 비 · 예보 “비”</a:t>
            </a:r>
            <a:endParaRPr lang="en-US" sz="1100" dirty="0"/>
          </a:p>
        </p:txBody>
      </p:sp>
      <p:sp>
        <p:nvSpPr>
          <p:cNvPr id="10" name="cm1"/>
          <p:cNvSpPr/>
          <p:nvPr/>
        </p:nvSpPr>
        <p:spPr>
          <a:xfrm>
            <a:off x="6583680" y="1143000"/>
            <a:ext cx="201168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720840" y="12344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비 놓침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693408" y="16002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실제 비 · 예보 “비 안 옴”</a:t>
            </a:r>
            <a:endParaRPr lang="en-US" sz="1100" dirty="0"/>
          </a:p>
        </p:txBody>
      </p:sp>
      <p:sp>
        <p:nvSpPr>
          <p:cNvPr id="13" name="cm2"/>
          <p:cNvSpPr/>
          <p:nvPr/>
        </p:nvSpPr>
        <p:spPr>
          <a:xfrm>
            <a:off x="4480560" y="2148840"/>
            <a:ext cx="201168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17720" y="22402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헛경보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590288" y="2606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실제 비 안 옴 · 예보 “비”</a:t>
            </a:r>
            <a:endParaRPr lang="en-US" sz="1100" dirty="0"/>
          </a:p>
        </p:txBody>
      </p:sp>
      <p:sp>
        <p:nvSpPr>
          <p:cNvPr id="16" name="cm3"/>
          <p:cNvSpPr/>
          <p:nvPr/>
        </p:nvSpPr>
        <p:spPr>
          <a:xfrm>
            <a:off x="6583680" y="2148840"/>
            <a:ext cx="201168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720840" y="22402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비 안 옴 맞힘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693408" y="2606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실제·예보 모두 비 안 옴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480560" y="320040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비 온 시간 중 맞힌 비율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 = 비 맞힘 ÷ (비 맞힘 + 비 놓침)  (참고 용어: 재현율)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생각해 보기: 비가 드물면 정확도만으로 AI를 믿어도 될까? 재난 대비에는 어떤 AI가 필요할까?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⑤ 우리 학교 센서로 실제 예보</a:t>
            </a:r>
            <a:endParaRPr lang="en-US" sz="2600" dirty="0"/>
          </a:p>
        </p:txBody>
      </p:sp>
      <p:sp>
        <p:nvSpPr>
          <p:cNvPr id="3" name="pipe0"/>
          <p:cNvSpPr/>
          <p:nvPr/>
        </p:nvSpPr>
        <p:spPr>
          <a:xfrm>
            <a:off x="457200" y="1188720"/>
            <a:ext cx="1783080" cy="868680"/>
          </a:xfrm>
          <a:prstGeom prst="roundRect">
            <a:avLst>
              <a:gd name="adj" fmla="val 1263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실외 그늘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무선 날씨센서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286000" y="1490472"/>
            <a:ext cx="274320" cy="256032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pipe1"/>
          <p:cNvSpPr/>
          <p:nvPr/>
        </p:nvSpPr>
        <p:spPr>
          <a:xfrm>
            <a:off x="2606040" y="1188720"/>
            <a:ext cx="178308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06040" y="118872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교사 PC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브리지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34840" y="1490472"/>
            <a:ext cx="274320" cy="256032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pipe2"/>
          <p:cNvSpPr/>
          <p:nvPr/>
        </p:nvSpPr>
        <p:spPr>
          <a:xfrm>
            <a:off x="4754880" y="1188720"/>
            <a:ext cx="178308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54880" y="118872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구글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스프레드시트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583680" y="1490472"/>
            <a:ext cx="274320" cy="256032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pipe3"/>
          <p:cNvSpPr/>
          <p:nvPr/>
        </p:nvSpPr>
        <p:spPr>
          <a:xfrm>
            <a:off x="6903720" y="1188720"/>
            <a:ext cx="178308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03720" y="118872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AI 예보관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웹앱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2194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30초마다 측정 → 실시간 패널에서 “3시간 전 vs 지금” 기압 변화 확인 · 기압은 오후마다 조금 낮아짐(하루 두 번 오르내림)</a:t>
            </a:r>
            <a:endParaRPr lang="en-US" sz="1300" dirty="0"/>
          </a:p>
        </p:txBody>
      </p:sp>
      <p:sp>
        <p:nvSpPr>
          <p:cNvPr id="15" name="card"/>
          <p:cNvSpPr/>
          <p:nvPr/>
        </p:nvSpPr>
        <p:spPr>
          <a:xfrm>
            <a:off x="457200" y="2697480"/>
            <a:ext cx="4572000" cy="18745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27889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○반 ○모둠 예보 카드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3154680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예보 시각  ___ : ___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🧓 속담 ______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📏 규칙 ______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🤖 AI ______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근거: 기압 변화 ___ hPa · 습도 ___ % · 풍향 ___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303520" y="283464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카드를 칠판에 붙이고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다음 시간에 실제 날씨로 채점!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출구 카드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1. 오늘 탐구에서 드러난 빅데이터 활용의 장점 1가지와 근거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2. 오늘 탐구에서 드러난 빅데이터 활용의 문제점 1가지와 근거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다음 시간: 예보 채점 · 과거 자료로 배운 AI의 한계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[교사용] 수업 전 점검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216152"/>
            <a:ext cx="292608" cy="292608"/>
          </a:xfrm>
          <a:prstGeom prst="roundRect">
            <a:avLst>
              <a:gd name="adj" fmla="val 15625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1430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전날: 날씨센서 실외 그늘 설치·로깅 시작 · 로깅 중 브리지 연결 가능한지 시험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292608" cy="292608"/>
          </a:xfrm>
          <a:prstGeom prst="roundRect">
            <a:avLst>
              <a:gd name="adj" fmla="val 15625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70992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전날: data/asos_108_hourly.csv 배포 확인(웹앱 상단 초록 점)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350008"/>
            <a:ext cx="292608" cy="292608"/>
          </a:xfrm>
          <a:prstGeom prst="roundRect">
            <a:avLst>
              <a:gd name="adj" fmla="val 15625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2276856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당일 아침: 브리지 실행 → 교사용 페이지 ④에서 최신 기록 확인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916936"/>
            <a:ext cx="292608" cy="292608"/>
          </a:xfrm>
          <a:prstGeom prst="roundRect">
            <a:avLst>
              <a:gd name="adj" fmla="val 15625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28437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크롬북: sparkvue.pasco.com 접속·블루투스 권한·학생 링크(?gas=) 열기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3483864"/>
            <a:ext cx="292608" cy="292608"/>
          </a:xfrm>
          <a:prstGeom prst="roundRect">
            <a:avLst>
              <a:gd name="adj" fmla="val 15625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341071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예비책: 브리지 실패 → 브리지 끄고 SPARKvue로 센서 연결·데이터 스트리밍 + 값 직접 입력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4050792"/>
            <a:ext cx="292608" cy="292608"/>
          </a:xfrm>
          <a:prstGeom prst="roundRect">
            <a:avLst>
              <a:gd name="adj" fmla="val 15625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" y="39776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사진: 가설 판 · 결정트리 화면 · 센서 읽기 · 예보 카드 칠판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 Forecaster">
  <a:themeElements>
    <a:clrScheme name="AI Forecaster">
      <a:dk1>
        <a:srgbClr val="1B2530"/>
      </a:dk1>
      <a:lt1>
        <a:srgbClr val="FFFFFF"/>
      </a:lt1>
      <a:dk2>
        <a:srgbClr val="17324A"/>
      </a:dk2>
      <a:lt2>
        <a:srgbClr val="EEF3F7"/>
      </a:lt2>
      <a:accent1>
        <a:srgbClr val="2E7DA6"/>
      </a:accent1>
      <a:accent2>
        <a:srgbClr val="E0702D"/>
      </a:accent2>
      <a:accent3>
        <a:srgbClr val="6C8798"/>
      </a:accent3>
      <a:accent4>
        <a:srgbClr val="3E9A6B"/>
      </a:accent4>
      <a:accent5>
        <a:srgbClr val="B23B3B"/>
      </a:accent5>
      <a:accent6>
        <a:srgbClr val="C9DCE8"/>
      </a:accent6>
      <a:hlink>
        <a:srgbClr val="2E7DA6"/>
      </a:hlink>
      <a:folHlink>
        <a:srgbClr val="6C8798"/>
      </a:folHlink>
    </a:clrScheme>
    <a:fontScheme name="AI Forecaster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속담 vs 빅데이터 vs AI — 2차시 교안</dc:title>
  <dc:subject>PptxGenJS Presentation</dc:subject>
  <dc:creator>찬환쌤</dc:creator>
  <cp:lastModifiedBy>찬환쌤</cp:lastModifiedBy>
  <cp:revision>1</cp:revision>
  <dcterms:created xsi:type="dcterms:W3CDTF">2026-10-27T10:02:17Z</dcterms:created>
  <dcterms:modified xsi:type="dcterms:W3CDTF">2026-10-27T10:02:17Z</dcterms:modified>
</cp:coreProperties>
</file>